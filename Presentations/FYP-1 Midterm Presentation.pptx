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  <p:sldMasterId id="2147483659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9" r:id="rId14"/>
    <p:sldId id="268" r:id="rId15"/>
    <p:sldId id="273" r:id="rId16"/>
    <p:sldId id="274" r:id="rId17"/>
    <p:sldId id="285" r:id="rId18"/>
    <p:sldId id="275" r:id="rId19"/>
    <p:sldId id="276" r:id="rId20"/>
    <p:sldId id="277" r:id="rId21"/>
    <p:sldId id="278" r:id="rId22"/>
    <p:sldId id="279" r:id="rId23"/>
    <p:sldId id="288" r:id="rId24"/>
    <p:sldId id="283" r:id="rId25"/>
    <p:sldId id="286" r:id="rId26"/>
  </p:sldIdLst>
  <p:sldSz cx="12192000" cy="6858000"/>
  <p:notesSz cx="6858000" cy="9144000"/>
  <p:embeddedFontLst>
    <p:embeddedFont>
      <p:font typeface="Century Schoolbook" panose="02040604050505020304" pitchFamily="18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029539-B666-4703-AAD4-2F729A1047E9}">
  <a:tblStyle styleId="{39029539-B666-4703-AAD4-2F729A1047E9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EBEB"/>
          </a:solidFill>
        </a:fill>
      </a:tcStyle>
    </a:wholeTbl>
    <a:band1H>
      <a:tcTxStyle/>
      <a:tcStyle>
        <a:tcBdr/>
        <a:fill>
          <a:solidFill>
            <a:srgbClr val="D4D4D5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4D4D5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62f07901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g3862f0790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5" name="Google Shape;1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62f079017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g3862f07901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>
          <a:extLst>
            <a:ext uri="{FF2B5EF4-FFF2-40B4-BE49-F238E27FC236}">
              <a16:creationId xmlns:a16="http://schemas.microsoft.com/office/drawing/2014/main" id="{056A3447-CBE5-EB3D-277B-70199F4C3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62f079017_0_8:notes">
            <a:extLst>
              <a:ext uri="{FF2B5EF4-FFF2-40B4-BE49-F238E27FC236}">
                <a16:creationId xmlns:a16="http://schemas.microsoft.com/office/drawing/2014/main" id="{2B3F82FC-008A-46AD-D553-04156EBF9F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g3862f079017_0_8:notes">
            <a:extLst>
              <a:ext uri="{FF2B5EF4-FFF2-40B4-BE49-F238E27FC236}">
                <a16:creationId xmlns:a16="http://schemas.microsoft.com/office/drawing/2014/main" id="{0622FE71-CF2E-BA32-A54D-DEF818E8A8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36792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862f079017_0_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6" name="Google Shape;256;g3862f07901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" name="Google Shape;27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>
          <a:extLst>
            <a:ext uri="{FF2B5EF4-FFF2-40B4-BE49-F238E27FC236}">
              <a16:creationId xmlns:a16="http://schemas.microsoft.com/office/drawing/2014/main" id="{F4E4966B-4F9E-CF78-43C6-4079884E0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0:notes">
            <a:extLst>
              <a:ext uri="{FF2B5EF4-FFF2-40B4-BE49-F238E27FC236}">
                <a16:creationId xmlns:a16="http://schemas.microsoft.com/office/drawing/2014/main" id="{B1BAB854-68C5-C8BF-D731-80C1328B0A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" name="Google Shape;271;p20:notes">
            <a:extLst>
              <a:ext uri="{FF2B5EF4-FFF2-40B4-BE49-F238E27FC236}">
                <a16:creationId xmlns:a16="http://schemas.microsoft.com/office/drawing/2014/main" id="{F5ACBF59-78D5-8AD3-C610-671B22C50A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256381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862f079017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" name="Google Shape;318;g3862f079017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EDAB79B1-5C7E-D0EF-2B54-0DF0E7D32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862f079017_0_27:notes">
            <a:extLst>
              <a:ext uri="{FF2B5EF4-FFF2-40B4-BE49-F238E27FC236}">
                <a16:creationId xmlns:a16="http://schemas.microsoft.com/office/drawing/2014/main" id="{9A087870-024E-8744-827D-DB629BC168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8" name="Google Shape;318;g3862f079017_0_27:notes">
            <a:extLst>
              <a:ext uri="{FF2B5EF4-FFF2-40B4-BE49-F238E27FC236}">
                <a16:creationId xmlns:a16="http://schemas.microsoft.com/office/drawing/2014/main" id="{2F1B7EBC-7D6D-20B9-5D39-3E09DA4222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85000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343437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entury Schoolbook"/>
              <a:buNone/>
              <a:defRPr sz="7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BFBFBF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A5A5A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A5A5A5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entury Schoolbook"/>
              <a:buNone/>
              <a:defRPr sz="72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760"/>
              <a:buNone/>
              <a:defRPr sz="2200">
                <a:solidFill>
                  <a:srgbClr val="59595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2"/>
          </p:nvPr>
        </p:nvSpPr>
        <p:spPr>
          <a:xfrm>
            <a:off x="6126480" y="1828800"/>
            <a:ext cx="44805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2"/>
          </p:nvPr>
        </p:nvSpPr>
        <p:spPr>
          <a:xfrm>
            <a:off x="1261872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3"/>
          </p:nvPr>
        </p:nvSpPr>
        <p:spPr>
          <a:xfrm>
            <a:off x="6126480" y="1713655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0">
                <a:solidFill>
                  <a:schemeClr val="dk2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4"/>
          </p:nvPr>
        </p:nvSpPr>
        <p:spPr>
          <a:xfrm>
            <a:off x="6126480" y="2507550"/>
            <a:ext cx="4480560" cy="36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2pPr>
            <a:lvl3pPr marL="1371600" lvl="2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Schoolbook"/>
              <a:buNone/>
              <a:defRPr sz="32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body" idx="1"/>
          </p:nvPr>
        </p:nvSpPr>
        <p:spPr>
          <a:xfrm>
            <a:off x="4504267" y="685800"/>
            <a:ext cx="6079066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600"/>
              <a:buChar char="•"/>
              <a:defRPr sz="2000"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 sz="1800"/>
            </a:lvl2pPr>
            <a:lvl3pPr marL="1371600" lvl="2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600"/>
              <a:buChar char="●"/>
              <a:defRPr sz="1600"/>
            </a:lvl3pPr>
            <a:lvl4pPr marL="1828800" lvl="3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4pPr>
            <a:lvl5pPr marL="2286000" lvl="4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6pPr>
            <a:lvl7pPr marL="3200400" lvl="6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7pPr>
            <a:lvl8pPr marL="3657600" lvl="7" indent="-3175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●"/>
              <a:defRPr sz="1400"/>
            </a:lvl8pPr>
            <a:lvl9pPr marL="4114800" lvl="8" indent="-3175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400"/>
              <a:buChar char="●"/>
              <a:defRPr sz="14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body" idx="2"/>
          </p:nvPr>
        </p:nvSpPr>
        <p:spPr>
          <a:xfrm>
            <a:off x="841248" y="2099734"/>
            <a:ext cx="3200400" cy="3810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14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  <a:defRPr sz="28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>
            <a:spLocks noGrp="1"/>
          </p:cNvSpPr>
          <p:nvPr>
            <p:ph type="pic" idx="2"/>
          </p:nvPr>
        </p:nvSpPr>
        <p:spPr>
          <a:xfrm>
            <a:off x="0" y="0"/>
            <a:ext cx="11292840" cy="5128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PK"/>
          </a:p>
        </p:txBody>
      </p:sp>
      <p:sp>
        <p:nvSpPr>
          <p:cNvPr id="75" name="Google Shape;75;p10"/>
          <p:cNvSpPr txBox="1">
            <a:spLocks noGrp="1"/>
          </p:cNvSpPr>
          <p:nvPr>
            <p:ph type="body" idx="1"/>
          </p:nvPr>
        </p:nvSpPr>
        <p:spPr>
          <a:xfrm>
            <a:off x="914400" y="6108589"/>
            <a:ext cx="9982200" cy="597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D8D8D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body" idx="1"/>
          </p:nvPr>
        </p:nvSpPr>
        <p:spPr>
          <a:xfrm rot="5400000">
            <a:off x="3383884" y="-293212"/>
            <a:ext cx="4351337" cy="8595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>
            <a:spLocks noGrp="1"/>
          </p:cNvSpPr>
          <p:nvPr>
            <p:ph type="title"/>
          </p:nvPr>
        </p:nvSpPr>
        <p:spPr>
          <a:xfrm rot="5400000">
            <a:off x="6938169" y="2091531"/>
            <a:ext cx="5897562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body" idx="1"/>
          </p:nvPr>
        </p:nvSpPr>
        <p:spPr>
          <a:xfrm rot="5400000">
            <a:off x="1680369" y="-537369"/>
            <a:ext cx="589756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6pPr>
            <a:lvl7pPr marL="3200400" lvl="6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Char char="●"/>
              <a:defRPr/>
            </a:lvl8pPr>
            <a:lvl9pPr marL="4114800" lvl="8" indent="-342900" algn="l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SzPts val="1800"/>
              <a:buChar char="●"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A7A19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FEFEFE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F6F5F4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E6E4DF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rgbClr val="3434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  <a:defRPr sz="44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●"/>
              <a:defRPr sz="16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ts val="1400"/>
              <a:buFont typeface="Noto Sans Symbols"/>
              <a:buChar char="●"/>
              <a:defRPr sz="1400" b="0" i="0" u="none" strike="noStrike" cap="none">
                <a:solidFill>
                  <a:srgbClr val="262626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 rot="-5400000">
            <a:off x="10797542" y="998537"/>
            <a:ext cx="1904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 rot="-5400000">
            <a:off x="9959341" y="4046537"/>
            <a:ext cx="3581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DADADA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E8E93"/>
                </a:solidFill>
                <a:latin typeface="Century Schoolbook"/>
                <a:ea typeface="Century Schoolbook"/>
                <a:cs typeface="Century Schoolbook"/>
                <a:sym typeface="Century Schoolbook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competitions/diabetic-retinopathy-detection" TargetMode="External"/><Relationship Id="rId4" Type="http://schemas.openxmlformats.org/officeDocument/2006/relationships/hyperlink" Target="https://www.kaggle.com/datasets/mariaherrerot/diabetic-retinopathy-preprocessed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competitions/aptos2019-blindness-detection" TargetMode="External"/><Relationship Id="rId4" Type="http://schemas.openxmlformats.org/officeDocument/2006/relationships/hyperlink" Target="https://www.kaggle.com/datasets/abdallahalidev/aptos-2019-blindness-detection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kaggle.com/datasets/andrewmvd/retinal-fundus-multi-disease-image-dataset-rfmid" TargetMode="External"/><Relationship Id="rId4" Type="http://schemas.openxmlformats.org/officeDocument/2006/relationships/hyperlink" Target="https://www.kaggle.com/datasets/andrewmvd/ocular-disease-recognition-odir5k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o.int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ih.gov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7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3"/>
          <p:cNvSpPr txBox="1"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r>
              <a:rPr lang="en-US" sz="4800" dirty="0"/>
              <a:t>EyeGuard-XAI       </a:t>
            </a:r>
            <a:br>
              <a:rPr lang="en-US" sz="4800" dirty="0"/>
            </a:br>
            <a:br>
              <a:rPr lang="en-US" sz="4800" dirty="0"/>
            </a:br>
            <a:r>
              <a:rPr lang="en-US" sz="3200" dirty="0"/>
              <a:t>Reliable &amp; Explainable Retinal Disease Screening System</a:t>
            </a:r>
            <a:br>
              <a:rPr lang="en-US" sz="4800" dirty="0"/>
            </a:br>
            <a:endParaRPr sz="4800" dirty="0"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1"/>
          </p:nvPr>
        </p:nvSpPr>
        <p:spPr>
          <a:xfrm>
            <a:off x="967958" y="4724400"/>
            <a:ext cx="5316210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 dirty="0"/>
              <a:t> Group Members</a:t>
            </a:r>
            <a:endParaRPr dirty="0"/>
          </a:p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0000"/>
              <a:buNone/>
            </a:pPr>
            <a:r>
              <a:rPr lang="en-US" dirty="0"/>
              <a:t> Talha Hanif (22P-9051)</a:t>
            </a:r>
            <a:endParaRPr dirty="0"/>
          </a:p>
          <a:p>
            <a:pPr marL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ct val="80000"/>
              <a:buNone/>
            </a:pPr>
            <a:r>
              <a:rPr lang="en-US" dirty="0"/>
              <a:t> Muhammed Usman (22P-9071)</a:t>
            </a:r>
            <a:endParaRPr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6949572" y="4800600"/>
            <a:ext cx="4867221" cy="1691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Project Supervisor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BFBFB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Muhammad Zulqarnain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3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468" y="109250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 txBox="1">
            <a:spLocks noGrp="1"/>
          </p:cNvSpPr>
          <p:nvPr>
            <p:ph type="title"/>
          </p:nvPr>
        </p:nvSpPr>
        <p:spPr>
          <a:xfrm>
            <a:off x="258919" y="287583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sz="4800"/>
              <a:t>Introduction</a:t>
            </a:r>
            <a:endParaRPr sz="4800"/>
          </a:p>
        </p:txBody>
      </p:sp>
      <p:pic>
        <p:nvPicPr>
          <p:cNvPr id="104" name="Google Shape;104;p14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body" idx="1"/>
          </p:nvPr>
        </p:nvSpPr>
        <p:spPr>
          <a:xfrm>
            <a:off x="258919" y="2102617"/>
            <a:ext cx="10794000" cy="3446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sz="2400" dirty="0"/>
              <a:t>Retinal diseases (DR, Glaucoma, AMD) are major causes of preventable blindness.</a:t>
            </a:r>
          </a:p>
          <a:p>
            <a:r>
              <a:rPr lang="en-US" sz="2400" dirty="0"/>
              <a:t>Early screening using fundus images reduces vision loss risk.</a:t>
            </a:r>
          </a:p>
          <a:p>
            <a:r>
              <a:rPr lang="en-US" sz="2400" dirty="0"/>
              <a:t>Deep learning enables automated detection but behaves as a black-box.</a:t>
            </a:r>
          </a:p>
          <a:p>
            <a:r>
              <a:rPr lang="en-US" sz="2400" dirty="0"/>
              <a:t>Existing solutions prioritize accuracy over reliability and usability.</a:t>
            </a:r>
          </a:p>
          <a:p>
            <a:r>
              <a:rPr lang="en-US" sz="2400" dirty="0" err="1"/>
              <a:t>EyeGuard</a:t>
            </a:r>
            <a:r>
              <a:rPr lang="en-US" sz="2400" dirty="0"/>
              <a:t>-XAI integrates explainability, uncertainty, and user-centric design.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459767" y="495301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3" name="Google Shape;113;p15"/>
          <p:cNvSpPr txBox="1">
            <a:spLocks noGrp="1"/>
          </p:cNvSpPr>
          <p:nvPr>
            <p:ph type="body" idx="1"/>
          </p:nvPr>
        </p:nvSpPr>
        <p:spPr>
          <a:xfrm>
            <a:off x="459767" y="2090192"/>
            <a:ext cx="10320600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lvl="0" indent="-34290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US" sz="2400" dirty="0"/>
              <a:t>Current retinal disease detection systems suffer from overconfident predictions without uncertainty awareness, poorly calibrated confidence scores, and black-box decision-making that reduces clinical trust. Additionally, many existing solutions focus on single-disease detection and lack adaptive interfaces for both doctors and patients—creating a gap for a reliable, explainable, and user-centric intelligent eye diagnosis system.</a:t>
            </a:r>
            <a:endParaRPr sz="24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6"/>
          <p:cNvSpPr txBox="1">
            <a:spLocks noGrp="1"/>
          </p:cNvSpPr>
          <p:nvPr>
            <p:ph type="title"/>
          </p:nvPr>
        </p:nvSpPr>
        <p:spPr>
          <a:xfrm>
            <a:off x="537659" y="253540"/>
            <a:ext cx="9692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Solution</a:t>
            </a:r>
            <a:endParaRPr dirty="0"/>
          </a:p>
        </p:txBody>
      </p:sp>
      <p:sp>
        <p:nvSpPr>
          <p:cNvPr id="119" name="Google Shape;119;p1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20" name="Google Shape;120;p16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>
            <a:spLocks noGrp="1"/>
          </p:cNvSpPr>
          <p:nvPr>
            <p:ph type="body" idx="1"/>
          </p:nvPr>
        </p:nvSpPr>
        <p:spPr>
          <a:xfrm>
            <a:off x="537959" y="1760061"/>
            <a:ext cx="9692400" cy="4034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sz="2400" dirty="0"/>
              <a:t>Multi-disease retinal screening using CNN (ResNet/EfficientNet).</a:t>
            </a:r>
          </a:p>
          <a:p>
            <a:r>
              <a:rPr lang="en-US" sz="2400" dirty="0"/>
              <a:t>Monte Carlo Dropout for predictive uncertainty.</a:t>
            </a:r>
          </a:p>
          <a:p>
            <a:r>
              <a:rPr lang="en-US" sz="2400" dirty="0"/>
              <a:t>Calibration using Expected Calibration Error (ECE) &amp; temperature scaling.</a:t>
            </a:r>
          </a:p>
          <a:p>
            <a:r>
              <a:rPr lang="en-US" sz="2400" dirty="0"/>
              <a:t>Grad-CAM heatmaps for visual explainability.</a:t>
            </a:r>
          </a:p>
          <a:p>
            <a:r>
              <a:rPr lang="en-US" sz="2400" dirty="0"/>
              <a:t>Dual interface: Doctor (detailed) &amp; Simple User (risk-based).</a:t>
            </a:r>
          </a:p>
          <a:p>
            <a:r>
              <a:rPr lang="en-US" sz="2400" dirty="0"/>
              <a:t>Educational chatbot for awareness and guidance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title"/>
          </p:nvPr>
        </p:nvSpPr>
        <p:spPr>
          <a:xfrm>
            <a:off x="280095" y="221381"/>
            <a:ext cx="9692640" cy="827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3AE7DA-95CA-7F59-8652-D7066A3A9A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960675"/>
              </p:ext>
            </p:extLst>
          </p:nvPr>
        </p:nvGraphicFramePr>
        <p:xfrm>
          <a:off x="457199" y="1017639"/>
          <a:ext cx="9515535" cy="4925961"/>
        </p:xfrm>
        <a:graphic>
          <a:graphicData uri="http://schemas.openxmlformats.org/drawingml/2006/table">
            <a:tbl>
              <a:tblPr firstRow="1" bandRow="1"/>
              <a:tblGrid>
                <a:gridCol w="3171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1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1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5461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Existing Gap (Problem in Current Solutions)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EyeGuard-XAI (Our Solution)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References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Focus on accuracy only; no uncertainty awareness.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dirty="0"/>
                        <a:t>Integrates Monte Carlo Dropout to quantify predictive uncertainty.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Gal &amp; Ghahramani (2016); Kendall &amp; Gal (2017)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dirty="0"/>
                        <a:t>Black-box CNN decisions without explanation.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Uses Grad-CAM to visualize model attention on fundus images.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Selvaraju et al. (2017)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dirty="0"/>
                        <a:t>Poor probability calibration in modern neural networks.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Applies temperature scaling and evaluates ECE for reliable probabilities.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Guo et al. (2017)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Single-disease detection (mostly diabetic retinopathy).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Supports multi-disease screening (DR, Glaucoma, AMD, HR).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Gulshan et al. (2016); Ejaz et al. (2024)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No integration of explainability, uncertainty, and calibration together.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Combines all three into a unified reliability-aware framework.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Multiple works (combined approach)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Lack of user-oriented system design.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Dual interface for doctors and general users with tailored outputs.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Proposed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No decision support (confidence not actionable).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t>Provides risk levels and uncertainty-based decision guidance.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dirty="0"/>
                        <a:t>Proposed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713225" y="361047"/>
            <a:ext cx="96927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Use Case Diagram</a:t>
            </a:r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35" name="Google Shape;135;p18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2823" y="51720"/>
            <a:ext cx="1472478" cy="14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43026E-A217-1AA2-93FB-69E849C46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699" y="1214846"/>
            <a:ext cx="8278301" cy="5643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713225" y="361047"/>
            <a:ext cx="96927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Activity Diagram</a:t>
            </a:r>
            <a:endParaRPr dirty="0"/>
          </a:p>
        </p:txBody>
      </p:sp>
      <p:sp>
        <p:nvSpPr>
          <p:cNvPr id="142" name="Google Shape;142;p19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43" name="Google Shape;143;p19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2823" y="51720"/>
            <a:ext cx="1472478" cy="14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5EBF14-326A-0FF5-B56B-780AE80E0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748" y="1214846"/>
            <a:ext cx="6400800" cy="5643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>
            <a:spLocks noGrp="1"/>
          </p:cNvSpPr>
          <p:nvPr>
            <p:ph type="title"/>
          </p:nvPr>
        </p:nvSpPr>
        <p:spPr>
          <a:xfrm>
            <a:off x="0" y="361047"/>
            <a:ext cx="10405925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ER Diagram</a:t>
            </a:r>
            <a:endParaRPr dirty="0"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59" name="Google Shape;159;p21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2823" y="51720"/>
            <a:ext cx="1472478" cy="14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0FCFCC-BF19-CEA4-3861-D9EC6E683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8387" y="0"/>
            <a:ext cx="6154436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>
            <a:spLocks noGrp="1"/>
          </p:cNvSpPr>
          <p:nvPr>
            <p:ph type="title"/>
          </p:nvPr>
        </p:nvSpPr>
        <p:spPr>
          <a:xfrm>
            <a:off x="136283" y="51720"/>
            <a:ext cx="4337746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Class Diagram</a:t>
            </a:r>
            <a:endParaRPr dirty="0"/>
          </a:p>
        </p:txBody>
      </p:sp>
      <p:sp>
        <p:nvSpPr>
          <p:cNvPr id="166" name="Google Shape;166;p2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67" name="Google Shape;167;p22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2823" y="51720"/>
            <a:ext cx="1472478" cy="14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171829-1698-F845-C679-5163001EEF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057" y="62606"/>
            <a:ext cx="6707852" cy="6806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>
            <a:spLocks noGrp="1"/>
          </p:cNvSpPr>
          <p:nvPr>
            <p:ph type="title"/>
          </p:nvPr>
        </p:nvSpPr>
        <p:spPr>
          <a:xfrm>
            <a:off x="713225" y="361047"/>
            <a:ext cx="96927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Component Diagram</a:t>
            </a:r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75" name="Google Shape;175;p23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2823" y="51720"/>
            <a:ext cx="1472478" cy="14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480400-E4F8-B022-1FE9-5F03EDF36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75" y="1524174"/>
            <a:ext cx="10287000" cy="5333826"/>
          </a:xfrm>
          <a:prstGeom prst="rect">
            <a:avLst/>
          </a:prstGeom>
        </p:spPr>
      </p:pic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4DE7E099-8333-1B0E-2036-D6C0BFFBC7CA}"/>
              </a:ext>
            </a:extLst>
          </p:cNvPr>
          <p:cNvCxnSpPr>
            <a:cxnSpLocks/>
          </p:cNvCxnSpPr>
          <p:nvPr/>
        </p:nvCxnSpPr>
        <p:spPr>
          <a:xfrm flipV="1">
            <a:off x="7239003" y="4626429"/>
            <a:ext cx="1939906" cy="1132114"/>
          </a:xfrm>
          <a:prstGeom prst="bentConnector3">
            <a:avLst>
              <a:gd name="adj1" fmla="val 999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"/>
          <p:cNvSpPr txBox="1">
            <a:spLocks noGrp="1"/>
          </p:cNvSpPr>
          <p:nvPr>
            <p:ph type="title"/>
          </p:nvPr>
        </p:nvSpPr>
        <p:spPr>
          <a:xfrm>
            <a:off x="713225" y="361047"/>
            <a:ext cx="96927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System Diagram</a:t>
            </a:r>
            <a:endParaRPr dirty="0"/>
          </a:p>
        </p:txBody>
      </p:sp>
      <p:sp>
        <p:nvSpPr>
          <p:cNvPr id="182" name="Google Shape;182;p2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83" name="Google Shape;183;p24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2823" y="51720"/>
            <a:ext cx="1472478" cy="14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F02DF8-E0F6-99F2-1E67-85317A906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09861"/>
            <a:ext cx="11292840" cy="53481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>
            <a:spLocks noGrp="1"/>
          </p:cNvSpPr>
          <p:nvPr>
            <p:ph type="title"/>
          </p:nvPr>
        </p:nvSpPr>
        <p:spPr>
          <a:xfrm>
            <a:off x="-87086" y="-141514"/>
            <a:ext cx="96927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Sequence Diagram</a:t>
            </a:r>
            <a:endParaRPr dirty="0"/>
          </a:p>
        </p:txBody>
      </p:sp>
      <p:sp>
        <p:nvSpPr>
          <p:cNvPr id="198" name="Google Shape;198;p2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61337E-BF80-A8F2-A2CB-DC190F662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143" y="0"/>
            <a:ext cx="630282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>
            <a:spLocks noGrp="1"/>
          </p:cNvSpPr>
          <p:nvPr>
            <p:ph type="title"/>
          </p:nvPr>
        </p:nvSpPr>
        <p:spPr>
          <a:xfrm>
            <a:off x="713225" y="361047"/>
            <a:ext cx="9692700" cy="8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Flow Diagram</a:t>
            </a:r>
            <a:endParaRPr/>
          </a:p>
        </p:txBody>
      </p:sp>
      <p:sp>
        <p:nvSpPr>
          <p:cNvPr id="190" name="Google Shape;190;p2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91" name="Google Shape;191;p25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2823" y="51720"/>
            <a:ext cx="1472478" cy="147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0A251A-514D-3EF2-DCC7-77A73BB72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75" y="1472454"/>
            <a:ext cx="10287000" cy="53338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>
            <a:spLocks noGrp="1"/>
          </p:cNvSpPr>
          <p:nvPr>
            <p:ph type="title"/>
          </p:nvPr>
        </p:nvSpPr>
        <p:spPr>
          <a:xfrm>
            <a:off x="906334" y="510040"/>
            <a:ext cx="9692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Datasets</a:t>
            </a:r>
            <a:endParaRPr dirty="0"/>
          </a:p>
        </p:txBody>
      </p:sp>
      <p:sp>
        <p:nvSpPr>
          <p:cNvPr id="243" name="Google Shape;243;p3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44" name="Google Shape;244;p30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0"/>
          <p:cNvSpPr txBox="1">
            <a:spLocks noGrp="1"/>
          </p:cNvSpPr>
          <p:nvPr>
            <p:ph type="body" idx="1"/>
          </p:nvPr>
        </p:nvSpPr>
        <p:spPr>
          <a:xfrm>
            <a:off x="906334" y="2122445"/>
            <a:ext cx="9692400" cy="3596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457200" lvl="0" indent="-29464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1040"/>
              <a:buFont typeface="Arial"/>
              <a:buChar char="•"/>
            </a:pPr>
            <a:r>
              <a:rPr lang="en-US" sz="2400" dirty="0" err="1">
                <a:latin typeface="Times New Roman"/>
                <a:ea typeface="Times New Roman"/>
                <a:cs typeface="Times New Roman"/>
                <a:sym typeface="Times New Roman"/>
              </a:rPr>
              <a:t>EyePACS</a:t>
            </a: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1" indent="-292100">
              <a:lnSpc>
                <a:spcPct val="95000"/>
              </a:lnSpc>
              <a:spcBef>
                <a:spcPts val="1400"/>
              </a:spcBef>
              <a:buSzPts val="1000"/>
            </a:pPr>
            <a:r>
              <a:rPr lang="en-US" sz="1800" dirty="0">
                <a:hlinkClick r:id="rId4"/>
              </a:rPr>
              <a:t>https://www.kaggle.com/datasets/mariaherrerot/diabetic-retinopathy-preprocessed</a:t>
            </a:r>
            <a:endParaRPr lang="en-US" sz="1800" dirty="0"/>
          </a:p>
          <a:p>
            <a:pPr lvl="1" indent="-292100">
              <a:lnSpc>
                <a:spcPct val="95000"/>
              </a:lnSpc>
              <a:spcBef>
                <a:spcPts val="1400"/>
              </a:spcBef>
              <a:buSzPts val="1000"/>
            </a:pPr>
            <a:r>
              <a:rPr lang="en-US" sz="1800" dirty="0">
                <a:hlinkClick r:id="rId5"/>
              </a:rPr>
              <a:t>https://www.kaggle.com/competitions/diabetic-retinopathy-detection</a:t>
            </a:r>
            <a:endParaRPr lang="en-US" sz="1800" dirty="0"/>
          </a:p>
          <a:p>
            <a:pPr marL="622300" lvl="1" indent="0">
              <a:lnSpc>
                <a:spcPct val="95000"/>
              </a:lnSpc>
              <a:spcBef>
                <a:spcPts val="1400"/>
              </a:spcBef>
              <a:buSzPts val="1000"/>
              <a:buNone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622300" lvl="1" indent="0">
              <a:lnSpc>
                <a:spcPct val="95000"/>
              </a:lnSpc>
              <a:spcBef>
                <a:spcPts val="1400"/>
              </a:spcBef>
              <a:buSzPts val="100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EyePACS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(Eye Picture Archive Communication System) Dataset is a large-scale collection of retinal fundus images used primarily for detecting diabetic retinopathy using machine learning and deep learning techniques</a:t>
            </a:r>
            <a:r>
              <a:rPr lang="en-US" dirty="0">
                <a:latin typeface="Arial"/>
                <a:ea typeface="Arial"/>
                <a:cs typeface="Arial"/>
                <a:sym typeface="Arial"/>
              </a:rPr>
              <a:t>..</a:t>
            </a:r>
            <a:endParaRPr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/>
          <p:cNvSpPr txBox="1">
            <a:spLocks noGrp="1"/>
          </p:cNvSpPr>
          <p:nvPr>
            <p:ph type="title"/>
          </p:nvPr>
        </p:nvSpPr>
        <p:spPr>
          <a:xfrm>
            <a:off x="906334" y="510040"/>
            <a:ext cx="9692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Datasets</a:t>
            </a:r>
            <a:endParaRPr/>
          </a:p>
        </p:txBody>
      </p:sp>
      <p:sp>
        <p:nvSpPr>
          <p:cNvPr id="251" name="Google Shape;251;p31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252" name="Google Shape;252;p31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1"/>
          <p:cNvSpPr txBox="1">
            <a:spLocks noGrp="1"/>
          </p:cNvSpPr>
          <p:nvPr>
            <p:ph type="body" idx="1"/>
          </p:nvPr>
        </p:nvSpPr>
        <p:spPr>
          <a:xfrm>
            <a:off x="906634" y="2209091"/>
            <a:ext cx="9692400" cy="356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 indent="-294640">
              <a:buSzPts val="1040"/>
            </a:pPr>
            <a:r>
              <a:rPr lang="en-US" sz="2400" dirty="0"/>
              <a:t>APTOS Dataset</a:t>
            </a:r>
          </a:p>
          <a:p>
            <a:pPr lvl="1" indent="-294640">
              <a:lnSpc>
                <a:spcPct val="95000"/>
              </a:lnSpc>
              <a:spcBef>
                <a:spcPts val="1400"/>
              </a:spcBef>
              <a:buSzPts val="1040"/>
              <a:buFont typeface="Arial"/>
              <a:buChar char="●"/>
            </a:pPr>
            <a:r>
              <a:rPr lang="en-US" sz="1800" dirty="0">
                <a:hlinkClick r:id="rId4"/>
              </a:rPr>
              <a:t>https://www.kaggle.com/datasets/abdallahalidev/aptos-2019-blindness-detection</a:t>
            </a:r>
            <a:endParaRPr lang="en-US" sz="1800" dirty="0"/>
          </a:p>
          <a:p>
            <a:pPr lvl="1" indent="-294640">
              <a:lnSpc>
                <a:spcPct val="95000"/>
              </a:lnSpc>
              <a:spcBef>
                <a:spcPts val="1400"/>
              </a:spcBef>
              <a:buSzPts val="1040"/>
              <a:buFont typeface="Arial"/>
              <a:buChar char="●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dirty="0">
                <a:hlinkClick r:id="rId5"/>
              </a:rPr>
              <a:t>https://www.kaggle.com/competitions/aptos2019-blindness-detection</a:t>
            </a:r>
            <a:endParaRPr lang="en-US" sz="1800" dirty="0"/>
          </a:p>
          <a:p>
            <a:pPr lvl="1" indent="-294640">
              <a:lnSpc>
                <a:spcPct val="95000"/>
              </a:lnSpc>
              <a:spcBef>
                <a:spcPts val="1400"/>
              </a:spcBef>
              <a:buSzPts val="1040"/>
              <a:buFont typeface="Arial"/>
              <a:buChar char="●"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latin typeface="Arial"/>
                <a:ea typeface="Arial"/>
                <a:cs typeface="Arial"/>
                <a:sym typeface="Arial"/>
              </a:rPr>
              <a:t>The APTOS (Asia Pacific Tele-Ophthalmology Society) Dataset is a collection of retinal fundus images used for detecting and grading diabetic retinopathy severity levels using machine learning models.</a:t>
            </a:r>
            <a:endParaRPr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>
          <a:extLst>
            <a:ext uri="{FF2B5EF4-FFF2-40B4-BE49-F238E27FC236}">
              <a16:creationId xmlns:a16="http://schemas.microsoft.com/office/drawing/2014/main" id="{07CC226B-74CC-4257-7A7B-3AAD367AC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1">
            <a:extLst>
              <a:ext uri="{FF2B5EF4-FFF2-40B4-BE49-F238E27FC236}">
                <a16:creationId xmlns:a16="http://schemas.microsoft.com/office/drawing/2014/main" id="{FCB45F64-7C95-CEA4-25B9-104B3DBA93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06334" y="510040"/>
            <a:ext cx="9692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Datasets</a:t>
            </a:r>
            <a:endParaRPr dirty="0"/>
          </a:p>
        </p:txBody>
      </p:sp>
      <p:sp>
        <p:nvSpPr>
          <p:cNvPr id="251" name="Google Shape;251;p31">
            <a:extLst>
              <a:ext uri="{FF2B5EF4-FFF2-40B4-BE49-F238E27FC236}">
                <a16:creationId xmlns:a16="http://schemas.microsoft.com/office/drawing/2014/main" id="{851A431B-6311-9EE2-8D60-94843A824A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252" name="Google Shape;252;p31" descr="National University of Computer and Emerging Sciences - Wikipedia">
            <a:extLst>
              <a:ext uri="{FF2B5EF4-FFF2-40B4-BE49-F238E27FC236}">
                <a16:creationId xmlns:a16="http://schemas.microsoft.com/office/drawing/2014/main" id="{0495E05B-5A0E-966D-6312-AD535FB9C9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1">
            <a:extLst>
              <a:ext uri="{FF2B5EF4-FFF2-40B4-BE49-F238E27FC236}">
                <a16:creationId xmlns:a16="http://schemas.microsoft.com/office/drawing/2014/main" id="{6E1B3D8A-15B0-6366-A88B-E419D643D1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634" y="2014339"/>
            <a:ext cx="9692400" cy="3523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342900" indent="-342900">
              <a:lnSpc>
                <a:spcPct val="115000"/>
              </a:lnSpc>
              <a:spcBef>
                <a:spcPts val="1200"/>
              </a:spcBef>
            </a:pPr>
            <a:r>
              <a:rPr lang="en-US" sz="2400" dirty="0"/>
              <a:t>ODIR Datasets</a:t>
            </a:r>
          </a:p>
          <a:p>
            <a:pPr lvl="1" indent="-294640">
              <a:lnSpc>
                <a:spcPct val="95000"/>
              </a:lnSpc>
              <a:spcBef>
                <a:spcPts val="1400"/>
              </a:spcBef>
              <a:buSzPts val="1040"/>
              <a:buFont typeface="Arial"/>
              <a:buChar char="●"/>
            </a:pPr>
            <a:r>
              <a:rPr lang="en-US" sz="2000" dirty="0">
                <a:hlinkClick r:id="rId4"/>
              </a:rPr>
              <a:t>https://www.kaggle.com/datasets/andrewmvd/ocular-disease-recognition-odir5k</a:t>
            </a:r>
            <a:endParaRPr lang="en-US" sz="2000" dirty="0"/>
          </a:p>
          <a:p>
            <a:pPr lvl="1" indent="-294640">
              <a:lnSpc>
                <a:spcPct val="95000"/>
              </a:lnSpc>
              <a:spcBef>
                <a:spcPts val="1400"/>
              </a:spcBef>
              <a:buSzPts val="1040"/>
              <a:buFont typeface="Arial"/>
              <a:buChar char="●"/>
            </a:pPr>
            <a:r>
              <a:rPr lang="en-US" sz="1800" dirty="0">
                <a:hlinkClick r:id="rId5"/>
              </a:rPr>
              <a:t>https://www.kaggle.com/datasets/andrewmvd/retinal-fundus-multi-disease-image-dataset-rfmid</a:t>
            </a:r>
            <a:endParaRPr lang="en-US" sz="1800" dirty="0"/>
          </a:p>
          <a:p>
            <a:pPr marL="619760" lvl="1" indent="0">
              <a:lnSpc>
                <a:spcPct val="95000"/>
              </a:lnSpc>
              <a:spcBef>
                <a:spcPts val="1400"/>
              </a:spcBef>
              <a:buSzPts val="1040"/>
              <a:buNone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619760" lvl="1" indent="0">
              <a:lnSpc>
                <a:spcPct val="95000"/>
              </a:lnSpc>
              <a:spcBef>
                <a:spcPts val="1400"/>
              </a:spcBef>
              <a:buSzPts val="104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The ODIR (Ocular Disease Intelligent Recognition) and </a:t>
            </a:r>
            <a:r>
              <a:rPr lang="en-US" sz="1800" dirty="0" err="1">
                <a:latin typeface="Arial"/>
                <a:ea typeface="Arial"/>
                <a:cs typeface="Arial"/>
                <a:sym typeface="Arial"/>
              </a:rPr>
              <a:t>RFMiD</a:t>
            </a: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 (Retinal Fundus Multi-Disease Image Dataset) are multi-disease retinal image datasets designed for detecting and classifying multiple eye conditions using deep learning models.</a:t>
            </a:r>
          </a:p>
        </p:txBody>
      </p:sp>
    </p:spTree>
    <p:extLst>
      <p:ext uri="{BB962C8B-B14F-4D97-AF65-F5344CB8AC3E}">
        <p14:creationId xmlns:p14="http://schemas.microsoft.com/office/powerpoint/2010/main" val="2832590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>
            <a:spLocks noGrp="1"/>
          </p:cNvSpPr>
          <p:nvPr>
            <p:ph type="title"/>
          </p:nvPr>
        </p:nvSpPr>
        <p:spPr>
          <a:xfrm>
            <a:off x="906334" y="510040"/>
            <a:ext cx="9692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Datasets</a:t>
            </a:r>
            <a:endParaRPr/>
          </a:p>
        </p:txBody>
      </p:sp>
      <p:sp>
        <p:nvSpPr>
          <p:cNvPr id="259" name="Google Shape;259;p32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260" name="Google Shape;260;p32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57650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2"/>
          <p:cNvSpPr txBox="1">
            <a:spLocks noGrp="1"/>
          </p:cNvSpPr>
          <p:nvPr>
            <p:ph type="body" idx="1"/>
          </p:nvPr>
        </p:nvSpPr>
        <p:spPr>
          <a:xfrm>
            <a:off x="906440" y="1691241"/>
            <a:ext cx="9692400" cy="5756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sz="2000" b="1" dirty="0"/>
              <a:t>Retinal Image Dataset</a:t>
            </a:r>
          </a:p>
          <a:p>
            <a:r>
              <a:rPr lang="en-US" sz="1600" b="1" dirty="0"/>
              <a:t>Custom retinal dataset:</a:t>
            </a:r>
            <a:br>
              <a:rPr lang="en-US" sz="1600" dirty="0"/>
            </a:br>
            <a:r>
              <a:rPr lang="en-US" sz="1600" dirty="0"/>
              <a:t>We collect retinal (eye) images from multiple sources, covering diverse patient demographics, varying image qualities, and multiple disease conditions to ensure robustness and generalization.</a:t>
            </a:r>
          </a:p>
          <a:p>
            <a:r>
              <a:rPr lang="en-US" sz="1600" b="1" dirty="0"/>
              <a:t>Image preprocessing &amp; feature extraction:</a:t>
            </a:r>
            <a:br>
              <a:rPr lang="en-US" sz="1600" dirty="0"/>
            </a:br>
            <a:r>
              <a:rPr lang="en-US" sz="1600" dirty="0"/>
              <a:t>Images are processed using deep learning models (e.g., CNN-based architectures) to extract relevant visual features such as lesions, hemorrhages, and structural abnormalities.</a:t>
            </a:r>
          </a:p>
          <a:p>
            <a:r>
              <a:rPr lang="en-US" sz="1600" b="1" dirty="0"/>
              <a:t>Disease labeling:</a:t>
            </a:r>
            <a:br>
              <a:rPr lang="en-US" sz="1600" dirty="0"/>
            </a:br>
            <a:r>
              <a:rPr lang="en-US" sz="1600" dirty="0"/>
              <a:t>Each image is annotated with corresponding disease labels (e.g., diabetic retinopathy, glaucoma, normal) based on clinical reports and expert-defined diagnostic criteria.</a:t>
            </a:r>
          </a:p>
          <a:p>
            <a:r>
              <a:rPr lang="en-US" sz="1600" b="1" dirty="0"/>
              <a:t>Public datasets for augmentation:</a:t>
            </a:r>
            <a:br>
              <a:rPr lang="en-US" sz="1600" dirty="0"/>
            </a:br>
            <a:r>
              <a:rPr lang="en-US" sz="1600" dirty="0"/>
              <a:t>To improve model performance and generalization, publicly available datasets are incorporated. For example, </a:t>
            </a:r>
            <a:r>
              <a:rPr lang="en-US" sz="1600" dirty="0" err="1"/>
              <a:t>EyePACS</a:t>
            </a:r>
            <a:r>
              <a:rPr lang="en-US" sz="1600" dirty="0"/>
              <a:t> provides large-scale retinal images for diabetic retinopathy, while </a:t>
            </a:r>
            <a:r>
              <a:rPr lang="en-US" sz="1600" dirty="0" err="1"/>
              <a:t>Messidor</a:t>
            </a:r>
            <a:r>
              <a:rPr lang="en-US" sz="1600" dirty="0"/>
              <a:t> offers labeled fundus images for disease severity grading.</a:t>
            </a: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600" dirty="0">
              <a:solidFill>
                <a:srgbClr val="26262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"/>
          <p:cNvSpPr txBox="1">
            <a:spLocks noGrp="1"/>
          </p:cNvSpPr>
          <p:nvPr>
            <p:ph type="title"/>
          </p:nvPr>
        </p:nvSpPr>
        <p:spPr>
          <a:xfrm>
            <a:off x="347664" y="381802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Expected Result</a:t>
            </a:r>
            <a:endParaRPr/>
          </a:p>
        </p:txBody>
      </p:sp>
      <p:sp>
        <p:nvSpPr>
          <p:cNvPr id="267" name="Google Shape;267;p33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68" name="Google Shape;268;p33"/>
          <p:cNvSpPr txBox="1">
            <a:spLocks noGrp="1"/>
          </p:cNvSpPr>
          <p:nvPr>
            <p:ph type="body" idx="1"/>
          </p:nvPr>
        </p:nvSpPr>
        <p:spPr>
          <a:xfrm>
            <a:off x="347664" y="2028294"/>
            <a:ext cx="10384500" cy="24478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r>
              <a:rPr lang="en-US" sz="2800" dirty="0"/>
              <a:t>Accurate multi-disease detection.</a:t>
            </a:r>
          </a:p>
          <a:p>
            <a:r>
              <a:rPr lang="en-US" sz="2800" dirty="0"/>
              <a:t>Reliable predictions with uncertainty awareness.</a:t>
            </a:r>
          </a:p>
          <a:p>
            <a:r>
              <a:rPr lang="en-US" sz="2800" dirty="0"/>
              <a:t>Explainable outputs via heatmaps.</a:t>
            </a:r>
          </a:p>
          <a:p>
            <a:r>
              <a:rPr lang="en-US" sz="2800" dirty="0"/>
              <a:t>Improved trust for doctors and users.</a:t>
            </a:r>
            <a:endParaRPr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>
            <a:spLocks noGrp="1"/>
          </p:cNvSpPr>
          <p:nvPr>
            <p:ph type="title"/>
          </p:nvPr>
        </p:nvSpPr>
        <p:spPr>
          <a:xfrm>
            <a:off x="713232" y="361041"/>
            <a:ext cx="9692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Scope of the project</a:t>
            </a:r>
            <a:endParaRPr/>
          </a:p>
        </p:txBody>
      </p:sp>
      <p:sp>
        <p:nvSpPr>
          <p:cNvPr id="274" name="Google Shape;274;p34"/>
          <p:cNvSpPr txBox="1">
            <a:spLocks noGrp="1"/>
          </p:cNvSpPr>
          <p:nvPr>
            <p:ph type="body" idx="1"/>
          </p:nvPr>
        </p:nvSpPr>
        <p:spPr>
          <a:xfrm>
            <a:off x="713232" y="1808375"/>
            <a:ext cx="85953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800" b="1" dirty="0"/>
              <a:t>In-Scope:</a:t>
            </a:r>
          </a:p>
          <a:p>
            <a:r>
              <a:rPr lang="en-US" sz="2000" dirty="0"/>
              <a:t>AI-based retinal disease detection.</a:t>
            </a:r>
          </a:p>
          <a:p>
            <a:r>
              <a:rPr lang="en-US" sz="2000" dirty="0"/>
              <a:t>Explainability (Grad-CAM) and uncertainty estimation.</a:t>
            </a:r>
          </a:p>
          <a:p>
            <a:r>
              <a:rPr lang="en-US" sz="2000" dirty="0"/>
              <a:t>Dual-interface application.</a:t>
            </a:r>
          </a:p>
          <a:p>
            <a:endParaRPr lang="en-US" sz="2000" dirty="0"/>
          </a:p>
          <a:p>
            <a:r>
              <a:rPr lang="en-US" sz="2800" b="1" dirty="0"/>
              <a:t>Out-of-Scope:</a:t>
            </a:r>
          </a:p>
          <a:p>
            <a:r>
              <a:rPr lang="en-US" sz="2000" dirty="0"/>
              <a:t>Clinical diagnosis replacement.</a:t>
            </a:r>
          </a:p>
          <a:p>
            <a:r>
              <a:rPr lang="en-US" sz="2000" dirty="0"/>
              <a:t>Real-time hospital integration</a:t>
            </a:r>
            <a:r>
              <a:rPr lang="en-US" sz="2800" dirty="0"/>
              <a:t>.</a:t>
            </a:r>
          </a:p>
        </p:txBody>
      </p:sp>
      <p:sp>
        <p:nvSpPr>
          <p:cNvPr id="275" name="Google Shape;275;p34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276" name="Google Shape;276;p34" descr="National University of Computer and Emerging Sciences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2823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5"/>
          <p:cNvSpPr txBox="1">
            <a:spLocks noGrp="1"/>
          </p:cNvSpPr>
          <p:nvPr>
            <p:ph type="title"/>
          </p:nvPr>
        </p:nvSpPr>
        <p:spPr>
          <a:xfrm>
            <a:off x="520727" y="429928"/>
            <a:ext cx="969264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Goals</a:t>
            </a:r>
            <a:endParaRPr/>
          </a:p>
        </p:txBody>
      </p:sp>
      <p:sp>
        <p:nvSpPr>
          <p:cNvPr id="282" name="Google Shape;282;p35"/>
          <p:cNvSpPr txBox="1">
            <a:spLocks noGrp="1"/>
          </p:cNvSpPr>
          <p:nvPr>
            <p:ph type="body" idx="1"/>
          </p:nvPr>
        </p:nvSpPr>
        <p:spPr>
          <a:xfrm>
            <a:off x="716439" y="1820863"/>
            <a:ext cx="9692639" cy="4607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dirty="0"/>
              <a:t>Develop a reliability-aware AI screening system.</a:t>
            </a:r>
          </a:p>
          <a:p>
            <a:r>
              <a:rPr lang="en-US" sz="2400" dirty="0"/>
              <a:t>Provide interpretable and explainable outputs.</a:t>
            </a:r>
          </a:p>
          <a:p>
            <a:r>
              <a:rPr lang="en-US" sz="2400" dirty="0"/>
              <a:t>Enhance trust in medical AI.</a:t>
            </a:r>
          </a:p>
          <a:p>
            <a:r>
              <a:rPr lang="en-US" sz="2400" dirty="0"/>
              <a:t>Support both clinical and general users.</a:t>
            </a:r>
          </a:p>
          <a:p>
            <a:pPr marL="182880" lvl="0" indent="-9144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3" name="Google Shape;283;p35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 txBox="1">
            <a:spLocks noGrp="1"/>
          </p:cNvSpPr>
          <p:nvPr>
            <p:ph type="title"/>
          </p:nvPr>
        </p:nvSpPr>
        <p:spPr>
          <a:xfrm>
            <a:off x="304800" y="-92732"/>
            <a:ext cx="9692641" cy="663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 dirty="0"/>
              <a:t>Objectives</a:t>
            </a:r>
            <a:endParaRPr dirty="0"/>
          </a:p>
        </p:txBody>
      </p:sp>
      <p:sp>
        <p:nvSpPr>
          <p:cNvPr id="289" name="Google Shape;289;p36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90" name="Google Shape;290;p36"/>
          <p:cNvSpPr txBox="1">
            <a:spLocks noGrp="1"/>
          </p:cNvSpPr>
          <p:nvPr>
            <p:ph type="body" idx="1"/>
          </p:nvPr>
        </p:nvSpPr>
        <p:spPr>
          <a:xfrm>
            <a:off x="304800" y="1873411"/>
            <a:ext cx="104112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0FAFB7-72C1-5B19-E229-E0643070E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0686"/>
            <a:ext cx="11292840" cy="62873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>
          <a:extLst>
            <a:ext uri="{FF2B5EF4-FFF2-40B4-BE49-F238E27FC236}">
              <a16:creationId xmlns:a16="http://schemas.microsoft.com/office/drawing/2014/main" id="{ACA9ECC5-683E-E5A7-51E8-0CF606762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>
            <a:extLst>
              <a:ext uri="{FF2B5EF4-FFF2-40B4-BE49-F238E27FC236}">
                <a16:creationId xmlns:a16="http://schemas.microsoft.com/office/drawing/2014/main" id="{4A1C0002-B958-3767-84A6-B84B34255E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32" y="49557"/>
            <a:ext cx="9692700" cy="742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lvl="0">
              <a:buSzPts val="4400"/>
            </a:pPr>
            <a:r>
              <a:rPr lang="en-US" dirty="0"/>
              <a:t>Work Distribution</a:t>
            </a:r>
            <a:endParaRPr dirty="0"/>
          </a:p>
        </p:txBody>
      </p:sp>
      <p:sp>
        <p:nvSpPr>
          <p:cNvPr id="274" name="Google Shape;274;p34">
            <a:extLst>
              <a:ext uri="{FF2B5EF4-FFF2-40B4-BE49-F238E27FC236}">
                <a16:creationId xmlns:a16="http://schemas.microsoft.com/office/drawing/2014/main" id="{28121A68-592A-9A6C-45DE-14A5AD13A1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95378" y="1179871"/>
            <a:ext cx="8595300" cy="5586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PK" sz="2400" b="1" dirty="0">
                <a:solidFill>
                  <a:schemeClr val="tx1"/>
                </a:solidFill>
                <a:latin typeface="Arial" panose="020B0604020202020204" pitchFamily="34" charset="0"/>
              </a:rPr>
              <a:t>Talha Hanif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PK" altLang="en-PK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PK" altLang="en-PK" dirty="0">
                <a:solidFill>
                  <a:schemeClr val="tx1"/>
                </a:solidFill>
                <a:latin typeface="Arial" panose="020B0604020202020204" pitchFamily="34" charset="0"/>
              </a:rPr>
              <a:t>System Design &amp; Architecture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PK" altLang="en-PK" dirty="0">
                <a:solidFill>
                  <a:schemeClr val="tx1"/>
                </a:solidFill>
                <a:latin typeface="Arial" panose="020B0604020202020204" pitchFamily="34" charset="0"/>
              </a:rPr>
              <a:t>AI Model Integration (Prediction + XAI)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PK" altLang="en-PK" dirty="0">
                <a:solidFill>
                  <a:schemeClr val="tx1"/>
                </a:solidFill>
                <a:latin typeface="Arial" panose="020B0604020202020204" pitchFamily="34" charset="0"/>
              </a:rPr>
              <a:t>Backend Development (</a:t>
            </a:r>
            <a:r>
              <a:rPr lang="en-PK" altLang="en-PK" dirty="0" err="1">
                <a:solidFill>
                  <a:schemeClr val="tx1"/>
                </a:solidFill>
                <a:latin typeface="Arial" panose="020B0604020202020204" pitchFamily="34" charset="0"/>
              </a:rPr>
              <a:t>FastAPI</a:t>
            </a:r>
            <a:r>
              <a:rPr lang="en-PK" altLang="en-PK" dirty="0">
                <a:solidFill>
                  <a:schemeClr val="tx1"/>
                </a:solidFill>
                <a:latin typeface="Arial" panose="020B0604020202020204" pitchFamily="34" charset="0"/>
              </a:rPr>
              <a:t>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PK" altLang="en-PK" dirty="0">
                <a:solidFill>
                  <a:schemeClr val="tx1"/>
                </a:solidFill>
                <a:latin typeface="Arial" panose="020B0604020202020204" pitchFamily="34" charset="0"/>
              </a:rPr>
              <a:t>Database Design (ERD, Schema)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PK" altLang="en-PK" dirty="0">
                <a:solidFill>
                  <a:schemeClr val="tx1"/>
                </a:solidFill>
                <a:latin typeface="Arial" panose="020B0604020202020204" pitchFamily="34" charset="0"/>
              </a:rPr>
              <a:t>Model Evaluation &amp; Testing </a:t>
            </a:r>
            <a:endParaRPr lang="en-US" altLang="en-PK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PK" sz="2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PK" sz="2400" b="1" dirty="0">
                <a:solidFill>
                  <a:schemeClr val="tx1"/>
                </a:solidFill>
                <a:latin typeface="Arial" panose="020B0604020202020204" pitchFamily="34" charset="0"/>
              </a:rPr>
              <a:t>Muhammed Usman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PK" altLang="en-PK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PK" altLang="en-PK" sz="2000" dirty="0">
                <a:solidFill>
                  <a:schemeClr val="tx1"/>
                </a:solidFill>
                <a:latin typeface="Arial" panose="020B0604020202020204" pitchFamily="34" charset="0"/>
              </a:rPr>
              <a:t>Frontend Development (Mobile UI – React Native)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PK" altLang="en-PK" sz="2000" dirty="0">
                <a:solidFill>
                  <a:schemeClr val="tx1"/>
                </a:solidFill>
                <a:latin typeface="Arial" panose="020B0604020202020204" pitchFamily="34" charset="0"/>
              </a:rPr>
              <a:t>UI/UX Design (User Flow, Screens)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PK" altLang="en-PK" sz="2000" dirty="0">
                <a:solidFill>
                  <a:schemeClr val="tx1"/>
                </a:solidFill>
                <a:latin typeface="Arial" panose="020B0604020202020204" pitchFamily="34" charset="0"/>
              </a:rPr>
              <a:t>Integration with Backend APIs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PK" altLang="en-PK" sz="2000" dirty="0">
                <a:solidFill>
                  <a:schemeClr val="tx1"/>
                </a:solidFill>
                <a:latin typeface="Arial" panose="020B0604020202020204" pitchFamily="34" charset="0"/>
              </a:rPr>
              <a:t>Chatbot Interface Implementation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PK" altLang="en-PK" sz="2000" dirty="0">
                <a:solidFill>
                  <a:schemeClr val="tx1"/>
                </a:solidFill>
                <a:latin typeface="Arial" panose="020B0604020202020204" pitchFamily="34" charset="0"/>
              </a:rPr>
              <a:t>Presentation &amp; Documentation Support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PK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PK" altLang="en-PK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75" name="Google Shape;275;p34">
            <a:extLst>
              <a:ext uri="{FF2B5EF4-FFF2-40B4-BE49-F238E27FC236}">
                <a16:creationId xmlns:a16="http://schemas.microsoft.com/office/drawing/2014/main" id="{309A7172-53AD-B220-59B2-EA0FA94477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276" name="Google Shape;276;p34" descr="National University of Computer and Emerging Sciences - Wikipedia">
            <a:extLst>
              <a:ext uri="{FF2B5EF4-FFF2-40B4-BE49-F238E27FC236}">
                <a16:creationId xmlns:a16="http://schemas.microsoft.com/office/drawing/2014/main" id="{1AA2F6BB-8C76-3F70-D693-696216277DB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2823" y="287583"/>
            <a:ext cx="1472478" cy="14724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4106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/>
          <p:cNvSpPr txBox="1">
            <a:spLocks noGrp="1"/>
          </p:cNvSpPr>
          <p:nvPr>
            <p:ph type="title"/>
          </p:nvPr>
        </p:nvSpPr>
        <p:spPr>
          <a:xfrm>
            <a:off x="264160" y="223520"/>
            <a:ext cx="9847200" cy="13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321" name="Google Shape;321;p40"/>
          <p:cNvSpPr txBox="1">
            <a:spLocks noGrp="1"/>
          </p:cNvSpPr>
          <p:nvPr>
            <p:ph type="body" idx="1"/>
          </p:nvPr>
        </p:nvSpPr>
        <p:spPr>
          <a:xfrm>
            <a:off x="264160" y="1528890"/>
            <a:ext cx="10536000" cy="49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dirty="0"/>
              <a:t>[1] Y. Gal and Z. Ghahramani, “Dropout as a Bayesian approximation: Representing model uncertainty in deep learning,” in </a:t>
            </a:r>
            <a:r>
              <a:rPr lang="en-US" sz="1400" i="1" dirty="0"/>
              <a:t>Proc. Int. Conf. Machine Learning (ICML)</a:t>
            </a:r>
            <a:r>
              <a:rPr lang="en-US" sz="1400" dirty="0"/>
              <a:t>, 2016, pp. 1050–1059.</a:t>
            </a:r>
          </a:p>
          <a:p>
            <a:r>
              <a:rPr lang="en-US" sz="1400" dirty="0"/>
              <a:t>[2] A. Kendall and Y. Gal, “What uncertainties do we need in Bayesian deep learning for computer vision?,” in </a:t>
            </a:r>
            <a:r>
              <a:rPr lang="en-US" sz="1400" i="1" dirty="0"/>
              <a:t>Advances in Neural Information Processing Systems (</a:t>
            </a:r>
            <a:r>
              <a:rPr lang="en-US" sz="1400" i="1" dirty="0" err="1"/>
              <a:t>NeurIPS</a:t>
            </a:r>
            <a:r>
              <a:rPr lang="en-US" sz="1400" i="1" dirty="0"/>
              <a:t>)</a:t>
            </a:r>
            <a:r>
              <a:rPr lang="en-US" sz="1400" dirty="0"/>
              <a:t>, 2017.</a:t>
            </a:r>
          </a:p>
          <a:p>
            <a:r>
              <a:rPr lang="en-US" sz="1400" dirty="0"/>
              <a:t>[3] C. Guo, G. Pleiss, Y. Sun, and K. Q. Weinberger, “On calibration of modern neural networks,” in </a:t>
            </a:r>
            <a:r>
              <a:rPr lang="en-US" sz="1400" i="1" dirty="0"/>
              <a:t>Proc. Int. Conf. Machine Learning (ICML)</a:t>
            </a:r>
            <a:r>
              <a:rPr lang="en-US" sz="1400" dirty="0"/>
              <a:t>, 2017.</a:t>
            </a:r>
          </a:p>
          <a:p>
            <a:r>
              <a:rPr lang="en-US" sz="1400" dirty="0"/>
              <a:t>[4] R. R. Selvaraju et al., “Grad-CAM: Visual explanations from deep networks via gradient-based localization,” in </a:t>
            </a:r>
            <a:r>
              <a:rPr lang="en-US" sz="1400" i="1" dirty="0"/>
              <a:t>Proc. IEEE Int. Conf. Computer Vision (ICCV)</a:t>
            </a:r>
            <a:r>
              <a:rPr lang="en-US" sz="1400" dirty="0"/>
              <a:t>, 2017.</a:t>
            </a:r>
          </a:p>
          <a:p>
            <a:r>
              <a:rPr lang="en-US" sz="1400" dirty="0"/>
              <a:t>[5] S. Tjoa and C. Guan, “A survey on explainable artificial intelligence (XAI): Toward medical XAI,” </a:t>
            </a:r>
            <a:r>
              <a:rPr lang="en-US" sz="1400" i="1" dirty="0"/>
              <a:t>IEEE Trans. Neural </a:t>
            </a:r>
            <a:r>
              <a:rPr lang="en-US" sz="1400" i="1" dirty="0" err="1"/>
              <a:t>Netw</a:t>
            </a:r>
            <a:r>
              <a:rPr lang="en-US" sz="1400" i="1" dirty="0"/>
              <a:t>. Learn. Syst.</a:t>
            </a:r>
            <a:r>
              <a:rPr lang="en-US" sz="1400" dirty="0"/>
              <a:t>, 2020.</a:t>
            </a:r>
          </a:p>
          <a:p>
            <a:r>
              <a:rPr lang="en-US" sz="1400" dirty="0"/>
              <a:t>[6] K. He, X. Zhang, S. Ren, and J. Sun, “Deep residual learning for image recognition,” in </a:t>
            </a:r>
            <a:r>
              <a:rPr lang="en-US" sz="1400" i="1" dirty="0"/>
              <a:t>Proc. IEEE Conf. Computer Vision and Pattern Recognition (CVPR)</a:t>
            </a:r>
            <a:r>
              <a:rPr lang="en-US" sz="1400" dirty="0"/>
              <a:t>, 2016.</a:t>
            </a:r>
          </a:p>
          <a:p>
            <a:r>
              <a:rPr lang="en-US" sz="1400" dirty="0"/>
              <a:t>[7] O. </a:t>
            </a:r>
            <a:r>
              <a:rPr lang="en-US" sz="1400" dirty="0" err="1"/>
              <a:t>Russakovsky</a:t>
            </a:r>
            <a:r>
              <a:rPr lang="en-US" sz="1400" dirty="0"/>
              <a:t> et al., “ImageNet large scale visual recognition challenge,” </a:t>
            </a:r>
            <a:r>
              <a:rPr lang="en-US" sz="1400" i="1" dirty="0"/>
              <a:t>Int. J. </a:t>
            </a:r>
            <a:r>
              <a:rPr lang="en-US" sz="1400" i="1" dirty="0" err="1"/>
              <a:t>Comput</a:t>
            </a:r>
            <a:r>
              <a:rPr lang="en-US" sz="1400" i="1" dirty="0"/>
              <a:t>. Vision</a:t>
            </a:r>
            <a:r>
              <a:rPr lang="en-US" sz="1400" dirty="0"/>
              <a:t>, vol. 115, no. 3, pp. 211–252, 2015.</a:t>
            </a:r>
          </a:p>
          <a:p>
            <a:r>
              <a:rPr lang="en-US" sz="1400" dirty="0"/>
              <a:t>[8] D. Chicco and G. Jurman, “The advantages of the Matthews correlation coefficient (MCC) over F1 score and accuracy in binary classification evaluation,” </a:t>
            </a:r>
            <a:r>
              <a:rPr lang="en-US" sz="1400" i="1" dirty="0"/>
              <a:t>BMC Genomics</a:t>
            </a:r>
            <a:r>
              <a:rPr lang="en-US" sz="1400" dirty="0"/>
              <a:t>, vol. 21, 2020.</a:t>
            </a:r>
          </a:p>
          <a:p>
            <a:pPr marL="9271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140"/>
              <a:buNone/>
            </a:pPr>
            <a:br>
              <a:rPr lang="en-US" sz="14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40"/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3E5E1BDC-3563-02FB-8212-41787B6FA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0">
            <a:extLst>
              <a:ext uri="{FF2B5EF4-FFF2-40B4-BE49-F238E27FC236}">
                <a16:creationId xmlns:a16="http://schemas.microsoft.com/office/drawing/2014/main" id="{05608CAE-53D5-5324-752A-4102E90C42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160" y="223520"/>
            <a:ext cx="9847200" cy="13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entury Schoolbook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321" name="Google Shape;321;p40">
            <a:extLst>
              <a:ext uri="{FF2B5EF4-FFF2-40B4-BE49-F238E27FC236}">
                <a16:creationId xmlns:a16="http://schemas.microsoft.com/office/drawing/2014/main" id="{E296E646-299B-18C8-D647-F5766F6345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4160" y="1528890"/>
            <a:ext cx="10536000" cy="497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400" dirty="0"/>
              <a:t>[9] J. Caruana et al., “Intelligible models for healthcare: Predicting pneumonia risk and hospital readmission,” in </a:t>
            </a:r>
            <a:r>
              <a:rPr lang="en-US" sz="1400" i="1" dirty="0"/>
              <a:t>Proc. ACM SIGKDD</a:t>
            </a:r>
            <a:r>
              <a:rPr lang="en-US" sz="1400" dirty="0"/>
              <a:t>, 2015.</a:t>
            </a:r>
          </a:p>
          <a:p>
            <a:r>
              <a:rPr lang="en-US" sz="1400" dirty="0"/>
              <a:t>[10] J. </a:t>
            </a:r>
            <a:r>
              <a:rPr lang="en-US" sz="1400" dirty="0" err="1"/>
              <a:t>Kermany</a:t>
            </a:r>
            <a:r>
              <a:rPr lang="en-US" sz="1400" dirty="0"/>
              <a:t> et al., “Identifying medical diagnoses and treatable diseases by image-based deep learning,” </a:t>
            </a:r>
            <a:r>
              <a:rPr lang="en-US" sz="1400" i="1" dirty="0"/>
              <a:t>Cell</a:t>
            </a:r>
            <a:r>
              <a:rPr lang="en-US" sz="1400" dirty="0"/>
              <a:t>, vol. 172, no. 5, pp. 1122–1131, 2018.</a:t>
            </a:r>
          </a:p>
          <a:p>
            <a:r>
              <a:rPr lang="en-US" sz="1400" dirty="0"/>
              <a:t>[11] A. Esteva et al., “Dermatologist-level classification of skin cancer with deep neural networks,” </a:t>
            </a:r>
            <a:r>
              <a:rPr lang="en-US" sz="1400" i="1" dirty="0"/>
              <a:t>Nature</a:t>
            </a:r>
            <a:r>
              <a:rPr lang="en-US" sz="1400" dirty="0"/>
              <a:t>, vol. 542, pp. 115–118, 2017.</a:t>
            </a:r>
          </a:p>
          <a:p>
            <a:r>
              <a:rPr lang="en-US" sz="1400" dirty="0"/>
              <a:t>[12] World Health Organization, “Global health estimates and disease burden,” 2024. [Online]. Available: </a:t>
            </a:r>
            <a:r>
              <a:rPr lang="en-US" sz="1400" dirty="0">
                <a:hlinkClick r:id="rId3"/>
              </a:rPr>
              <a:t>https://www.who.int/</a:t>
            </a:r>
            <a:endParaRPr lang="en-US" sz="1400" dirty="0"/>
          </a:p>
          <a:p>
            <a:r>
              <a:rPr lang="en-US" sz="1400" dirty="0"/>
              <a:t>[13] National Institutes of Health (NIH), “Medical imaging datasets and research resources,” 2023. [Online]. Available: </a:t>
            </a:r>
            <a:r>
              <a:rPr lang="en-US" sz="1400" dirty="0">
                <a:hlinkClick r:id="rId4"/>
              </a:rPr>
              <a:t>https://www.nih.gov/</a:t>
            </a:r>
            <a:endParaRPr lang="en-US" sz="1400" dirty="0"/>
          </a:p>
          <a:p>
            <a:r>
              <a:rPr lang="en-US" sz="1400" dirty="0"/>
              <a:t>[14] A. Holzinger et al., “What do we need to build explainable AI systems for the medical domain?,” </a:t>
            </a:r>
            <a:r>
              <a:rPr lang="en-US" sz="1400" i="1" dirty="0" err="1"/>
              <a:t>arXiv</a:t>
            </a:r>
            <a:r>
              <a:rPr lang="en-US" sz="1400" i="1" dirty="0"/>
              <a:t> preprint arXiv:1712.09923</a:t>
            </a:r>
            <a:r>
              <a:rPr lang="en-US" sz="1400" dirty="0"/>
              <a:t>, 2017.</a:t>
            </a:r>
          </a:p>
          <a:p>
            <a:r>
              <a:rPr lang="en-US" sz="1400" dirty="0"/>
              <a:t>[15] D. Rudin, “Stop explaining black box machine learning models for high stakes decisions and use interpretable models instead,” </a:t>
            </a:r>
            <a:r>
              <a:rPr lang="en-US" sz="1400" i="1" dirty="0"/>
              <a:t>Nature Machine Intelligence</a:t>
            </a:r>
            <a:r>
              <a:rPr lang="en-US" sz="1400" dirty="0"/>
              <a:t>, vol. 1, 2019.</a:t>
            </a:r>
          </a:p>
          <a:p>
            <a:r>
              <a:rPr lang="en-US" sz="1400" dirty="0"/>
              <a:t>[16] Z. Azam, personal communication, Medical Specialist / Consultant, Pakistan, 2025.</a:t>
            </a:r>
          </a:p>
        </p:txBody>
      </p:sp>
      <p:sp>
        <p:nvSpPr>
          <p:cNvPr id="322" name="Google Shape;322;p40">
            <a:extLst>
              <a:ext uri="{FF2B5EF4-FFF2-40B4-BE49-F238E27FC236}">
                <a16:creationId xmlns:a16="http://schemas.microsoft.com/office/drawing/2014/main" id="{4A1E93B6-4ACD-C6B0-FAB7-128D056C58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92840" y="6172200"/>
            <a:ext cx="914400" cy="5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normAutofit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981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1487</Words>
  <Application>Microsoft Office PowerPoint</Application>
  <PresentationFormat>Widescreen</PresentationFormat>
  <Paragraphs>157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Century Schoolbook</vt:lpstr>
      <vt:lpstr>Arial</vt:lpstr>
      <vt:lpstr>Times New Roman</vt:lpstr>
      <vt:lpstr>Calibri</vt:lpstr>
      <vt:lpstr>View</vt:lpstr>
      <vt:lpstr>View</vt:lpstr>
      <vt:lpstr>EyeGuard-XAI         Reliable &amp; Explainable Retinal Disease Screening System </vt:lpstr>
      <vt:lpstr>Introduction</vt:lpstr>
      <vt:lpstr>Problem Statement</vt:lpstr>
      <vt:lpstr>Solution</vt:lpstr>
      <vt:lpstr>Literature Review</vt:lpstr>
      <vt:lpstr>Use Case Diagram</vt:lpstr>
      <vt:lpstr>Activity Diagram</vt:lpstr>
      <vt:lpstr>ER Diagram</vt:lpstr>
      <vt:lpstr>Class Diagram</vt:lpstr>
      <vt:lpstr>Component Diagram</vt:lpstr>
      <vt:lpstr>System Diagram</vt:lpstr>
      <vt:lpstr>Sequence Diagram</vt:lpstr>
      <vt:lpstr>Flow Diagram</vt:lpstr>
      <vt:lpstr>Datasets</vt:lpstr>
      <vt:lpstr>Datasets</vt:lpstr>
      <vt:lpstr>Datasets</vt:lpstr>
      <vt:lpstr>Datasets</vt:lpstr>
      <vt:lpstr>Expected Result</vt:lpstr>
      <vt:lpstr>Scope of the project</vt:lpstr>
      <vt:lpstr>Goals</vt:lpstr>
      <vt:lpstr>Objectives</vt:lpstr>
      <vt:lpstr>Work Distribution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Subhan Tariq</dc:creator>
  <cp:lastModifiedBy>USMAN .</cp:lastModifiedBy>
  <cp:revision>13</cp:revision>
  <dcterms:modified xsi:type="dcterms:W3CDTF">2026-04-01T08:19:12Z</dcterms:modified>
</cp:coreProperties>
</file>