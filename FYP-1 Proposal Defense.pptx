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Century Schoolbook" panose="02040604050505020304" pitchFamily="18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275A7F-EA32-4D5D-B54B-FDF4F6D82A77}" v="212" dt="2026-02-10T14:29:06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lvl="1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lvl="2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lvl="3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lvl="4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lvl="5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lvl="6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lvl="7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lvl="8" indent="0" algn="ctr">
              <a:spcBef>
                <a:spcPts val="0"/>
              </a:spcBef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sz="7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sz="28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>
            <a:spLocks noGrp="1"/>
          </p:cNvSpPr>
          <p:nvPr>
            <p:ph type="pic" idx="2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1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br>
              <a:rPr lang="en-US" sz="4000" dirty="0"/>
            </a:br>
            <a:br>
              <a:rPr lang="en-US" sz="4000" dirty="0"/>
            </a:br>
            <a:r>
              <a:rPr lang="en-US" sz="4000" b="1" dirty="0"/>
              <a:t>EyeGuard-XAI</a:t>
            </a:r>
            <a:r>
              <a:rPr lang="en-US" sz="4000" dirty="0"/>
              <a:t>: A Reliability-Aware and Explainable Multi-Disease Retinal Screening System with Dual-Interface Design and Educational Chatbot Support</a:t>
            </a:r>
            <a:endParaRPr lang="en-US"/>
          </a:p>
          <a:p>
            <a:pPr marL="0" lv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7200"/>
              <a:buFont typeface="Century Schoolbook"/>
              <a:buNone/>
            </a:pPr>
            <a:endParaRPr lang="en-US" sz="4000" dirty="0"/>
          </a:p>
        </p:txBody>
      </p:sp>
      <p:sp>
        <p:nvSpPr>
          <p:cNvPr id="107" name="Google Shape;107;p15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531621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ct val="80000"/>
            </a:pPr>
            <a:r>
              <a:rPr lang="en-US" dirty="0"/>
              <a:t>Muhammed Usman (22P-9071)</a:t>
            </a:r>
          </a:p>
          <a:p>
            <a:pPr marL="0" indent="0"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</a:pPr>
            <a:r>
              <a:rPr lang="en-US" dirty="0"/>
              <a:t>Talha Hanif (22P-9051)</a:t>
            </a:r>
          </a:p>
        </p:txBody>
      </p:sp>
      <p:sp>
        <p:nvSpPr>
          <p:cNvPr id="108" name="Google Shape;108;p15"/>
          <p:cNvSpPr txBox="1"/>
          <p:nvPr/>
        </p:nvSpPr>
        <p:spPr>
          <a:xfrm>
            <a:off x="7864026" y="4800600"/>
            <a:ext cx="4867221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Project Supervisor</a:t>
            </a:r>
            <a:endParaRPr dirty="0"/>
          </a:p>
          <a:p>
            <a:pPr>
              <a:lnSpc>
                <a:spcPct val="95000"/>
              </a:lnSpc>
              <a:spcBef>
                <a:spcPts val="1600"/>
              </a:spcBef>
              <a:buClr>
                <a:schemeClr val="accent1"/>
              </a:buClr>
              <a:buSzPts val="1760"/>
            </a:pPr>
            <a:r>
              <a:rPr lang="en-US" sz="2200" b="0" i="0" u="none" strike="noStrike" cap="none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Mr. </a:t>
            </a:r>
            <a:r>
              <a:rPr lang="en-US" sz="2200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Muhammad Zulqarnain</a:t>
            </a:r>
            <a:endParaRPr dirty="0"/>
          </a:p>
        </p:txBody>
      </p:sp>
      <p:pic>
        <p:nvPicPr>
          <p:cNvPr id="109" name="Google Shape;109;p15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468" y="109250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Retinal diseases are a leading cause of preventable blindness worldwide.</a:t>
            </a:r>
            <a:endParaRPr lang="en-US" dirty="0">
              <a:solidFill>
                <a:srgbClr val="000000"/>
              </a:solidFill>
            </a:endParaRPr>
          </a:p>
          <a:p>
            <a:pPr marL="457200"/>
            <a:r>
              <a:rPr lang="en-US" dirty="0"/>
              <a:t>Early and accurate detection is critical to prevent permanent vision loss.</a:t>
            </a:r>
          </a:p>
          <a:p>
            <a:pPr marL="457200"/>
            <a:r>
              <a:rPr lang="en-US" dirty="0"/>
              <a:t>Reliable and transparent screening systems are essential for safe clinical use.</a:t>
            </a:r>
          </a:p>
          <a:p>
            <a:r>
              <a:rPr lang="en-US" dirty="0">
                <a:solidFill>
                  <a:srgbClr val="000000"/>
                </a:solidFill>
              </a:rPr>
              <a:t>A retinal screening system that provides accurate, uncertainty-aware, and explainable predictions.</a:t>
            </a:r>
          </a:p>
          <a:p>
            <a:r>
              <a:rPr lang="en-US" dirty="0">
                <a:solidFill>
                  <a:srgbClr val="000000"/>
                </a:solidFill>
              </a:rPr>
              <a:t>Supports safer clinical decisions and improves patient awareness through structured risk-based outputs.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pPr marL="182880" indent="-182880">
              <a:spcBef>
                <a:spcPts val="0"/>
              </a:spcBef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16" name="Google Shape;116;p16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Motivation</a:t>
            </a:r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/>
              <a:t>AI screening systems remain overconfident and uncalibrated.</a:t>
            </a:r>
          </a:p>
          <a:p>
            <a:r>
              <a:rPr lang="en-US" dirty="0"/>
              <a:t>No uncertainty awareness may lead to unsafe decisions.</a:t>
            </a:r>
          </a:p>
          <a:p>
            <a:r>
              <a:rPr lang="en-US" dirty="0"/>
              <a:t>Limited explainability reduces clinical trust.</a:t>
            </a:r>
            <a:endParaRPr dirty="0"/>
          </a:p>
          <a:p>
            <a:pPr marL="182880" indent="-182880" algn="l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4" name="Google Shape;124;p1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25" name="Google Shape;125;p17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indent="-182880">
              <a:spcBef>
                <a:spcPts val="0"/>
              </a:spcBef>
            </a:pPr>
            <a:r>
              <a:rPr lang="en-US" dirty="0"/>
              <a:t>Existing retinal screening models achieve high accuracy but often generate overconfident and poorly calibrated predictions without uncertainty estimation or explainability. This limits clinical trust, safety, and practical usability. Therefore, a reliability-aware and explainable retinal screening framework with structured dual-interface output is required.</a:t>
            </a:r>
          </a:p>
        </p:txBody>
      </p:sp>
      <p:sp>
        <p:nvSpPr>
          <p:cNvPr id="132" name="Google Shape;132;p1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" name="Google Shape;116;p16" descr="National University of Computer and Emerging Sciences - Wikipedia">
            <a:extLst>
              <a:ext uri="{FF2B5EF4-FFF2-40B4-BE49-F238E27FC236}">
                <a16:creationId xmlns:a16="http://schemas.microsoft.com/office/drawing/2014/main" id="{81325E20-5C92-87B6-BFF4-FF2EDBF75F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Solution</a:t>
            </a:r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indent="-182880"/>
            <a:r>
              <a:rPr lang="en-US"/>
              <a:t>Develop a multi-disease retinal screening system.</a:t>
            </a:r>
          </a:p>
          <a:p>
            <a:pPr marL="182880" indent="-182880">
              <a:spcBef>
                <a:spcPts val="0"/>
              </a:spcBef>
            </a:pPr>
            <a:endParaRPr lang="en-US" dirty="0"/>
          </a:p>
          <a:p>
            <a:pPr marL="182880" indent="-182880">
              <a:spcBef>
                <a:spcPts val="0"/>
              </a:spcBef>
            </a:pPr>
            <a:r>
              <a:rPr lang="en-US" dirty="0"/>
              <a:t>Integrate uncertainty estimation to measure prediction confidence.</a:t>
            </a:r>
          </a:p>
          <a:p>
            <a:pPr marL="182880" indent="-182880">
              <a:spcBef>
                <a:spcPts val="0"/>
              </a:spcBef>
            </a:pPr>
            <a:endParaRPr lang="en-US" dirty="0"/>
          </a:p>
          <a:p>
            <a:pPr marL="182880" indent="-182880">
              <a:spcBef>
                <a:spcPts val="0"/>
              </a:spcBef>
            </a:pPr>
            <a:r>
              <a:rPr lang="en-US" dirty="0"/>
              <a:t>Apply probability calibration to reduce overconfidence.</a:t>
            </a:r>
          </a:p>
          <a:p>
            <a:pPr marL="182880" indent="-182880">
              <a:spcBef>
                <a:spcPts val="0"/>
              </a:spcBef>
            </a:pPr>
            <a:endParaRPr lang="en-US" dirty="0"/>
          </a:p>
          <a:p>
            <a:pPr marL="182880" indent="-182880">
              <a:spcBef>
                <a:spcPts val="0"/>
              </a:spcBef>
            </a:pPr>
            <a:r>
              <a:rPr lang="en-US" dirty="0"/>
              <a:t>Generate explainability heatmaps for visual interpretation.</a:t>
            </a:r>
          </a:p>
          <a:p>
            <a:pPr marL="182880" indent="-182880">
              <a:spcBef>
                <a:spcPts val="0"/>
              </a:spcBef>
            </a:pPr>
            <a:endParaRPr lang="en-US" dirty="0"/>
          </a:p>
          <a:p>
            <a:pPr marL="182880" indent="-182880">
              <a:spcBef>
                <a:spcPts val="0"/>
              </a:spcBef>
            </a:pPr>
            <a:r>
              <a:rPr lang="en-US" dirty="0"/>
              <a:t>Design a dual-interface system (Doctor View &amp; Patient View).</a:t>
            </a:r>
          </a:p>
          <a:p>
            <a:pPr marL="182880" indent="-182880">
              <a:spcBef>
                <a:spcPts val="0"/>
              </a:spcBef>
            </a:pPr>
            <a:endParaRPr lang="en-US" dirty="0"/>
          </a:p>
          <a:p>
            <a:pPr marL="182880" indent="-182880">
              <a:spcBef>
                <a:spcPts val="0"/>
              </a:spcBef>
            </a:pPr>
            <a:r>
              <a:rPr lang="en-US" dirty="0"/>
              <a:t>Implement an educational chatbot for symptom and prevention guidance.</a:t>
            </a:r>
            <a:endParaRPr dirty="0"/>
          </a:p>
          <a:p>
            <a:pPr marL="182880" indent="-182880" algn="l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9" name="Google Shape;139;p1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40" name="Google Shape;140;p19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Scope of the project</a:t>
            </a:r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Multi-disease retinal screening with severity grading.</a:t>
            </a:r>
          </a:p>
          <a:p>
            <a:r>
              <a:rPr lang="en-US" dirty="0"/>
              <a:t>Uncertainty estimation for prediction reliability.</a:t>
            </a:r>
          </a:p>
          <a:p>
            <a:r>
              <a:rPr lang="en-US" dirty="0"/>
              <a:t>Probability calibration to reduce overconfidence.</a:t>
            </a:r>
          </a:p>
          <a:p>
            <a:r>
              <a:rPr lang="en-US" dirty="0"/>
              <a:t>Explainability heatmaps for visual interpretation.</a:t>
            </a:r>
          </a:p>
          <a:p>
            <a:r>
              <a:rPr lang="en-US" dirty="0"/>
              <a:t>Dual-interface design (Doctor &amp; Patient view).</a:t>
            </a:r>
          </a:p>
          <a:p>
            <a:r>
              <a:rPr lang="en-US" dirty="0"/>
              <a:t>Rule-based educational chatbot for awareness and prevention guidance.</a:t>
            </a:r>
          </a:p>
          <a:p>
            <a:pPr marL="182880" indent="-182880">
              <a:spcBef>
                <a:spcPts val="0"/>
              </a:spcBef>
            </a:pPr>
            <a:endParaRPr lang="en-US" dirty="0"/>
          </a:p>
          <a:p>
            <a:pPr marL="182880" indent="-182880" algn="l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7" name="Google Shape;147;p2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48" name="Google Shape;148;p20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Goals</a:t>
            </a:r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Develop a multi-disease retinal screening model with severity grading.</a:t>
            </a:r>
          </a:p>
          <a:p>
            <a:r>
              <a:rPr lang="en-US" dirty="0"/>
              <a:t>Incorporate uncertainty estimation to assess prediction reliability.</a:t>
            </a:r>
          </a:p>
          <a:p>
            <a:r>
              <a:rPr lang="en-US" dirty="0"/>
              <a:t>Improve probability calibration using Expected Calibration Error (ECE).</a:t>
            </a:r>
            <a:endParaRPr dirty="0"/>
          </a:p>
          <a:p>
            <a:pPr marL="457200"/>
            <a:r>
              <a:rPr lang="en-US" dirty="0"/>
              <a:t>Integrate explainable AI for visual interpretation of predictions.</a:t>
            </a:r>
          </a:p>
          <a:p>
            <a:pPr marL="457200"/>
            <a:r>
              <a:rPr lang="en-US" dirty="0"/>
              <a:t>Design a structured dual-interface system for doctors and patients.</a:t>
            </a:r>
          </a:p>
          <a:p>
            <a:pPr marL="457200"/>
            <a:r>
              <a:rPr lang="en-US" dirty="0"/>
              <a:t>Implement a safe and controlled educational chatbot for awareness support.</a:t>
            </a:r>
          </a:p>
          <a:p>
            <a:pPr marL="182880" indent="-182880" algn="l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5" name="Google Shape;155;p2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" name="Google Shape;116;p16" descr="National University of Computer and Emerging Sciences - Wikipedia">
            <a:extLst>
              <a:ext uri="{FF2B5EF4-FFF2-40B4-BE49-F238E27FC236}">
                <a16:creationId xmlns:a16="http://schemas.microsoft.com/office/drawing/2014/main" id="{1D11C212-CDA9-81F1-2B13-48281FADE0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3" name="Google Shape;116;p16" descr="National University of Computer and Emerging Sciences - Wikipedia">
            <a:extLst>
              <a:ext uri="{FF2B5EF4-FFF2-40B4-BE49-F238E27FC236}">
                <a16:creationId xmlns:a16="http://schemas.microsoft.com/office/drawing/2014/main" id="{51298A31-C06F-1A32-D2E9-20E6A6B96A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EyeGuard_XAI_Gantt_Chart.png">
            <a:extLst>
              <a:ext uri="{FF2B5EF4-FFF2-40B4-BE49-F238E27FC236}">
                <a16:creationId xmlns:a16="http://schemas.microsoft.com/office/drawing/2014/main" id="{931958EC-569D-648E-B293-CFF971E82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679" y="1700393"/>
            <a:ext cx="8382000" cy="503872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792639-EA95-9CA9-BD0E-5553E6E07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Expected Result</a:t>
            </a:r>
            <a:endParaRPr/>
          </a:p>
        </p:txBody>
      </p:sp>
      <p:sp>
        <p:nvSpPr>
          <p:cNvPr id="168" name="Google Shape;168;p23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Multi-disease detection with severity grading.</a:t>
            </a:r>
          </a:p>
          <a:p>
            <a:r>
              <a:rPr lang="en-US" dirty="0"/>
              <a:t>Calibrated probabilities with uncertainty scores.</a:t>
            </a:r>
          </a:p>
          <a:p>
            <a:r>
              <a:rPr lang="en-US" dirty="0"/>
              <a:t>Visual explainability using heatmaps.</a:t>
            </a:r>
          </a:p>
          <a:p>
            <a:r>
              <a:rPr lang="en-US" dirty="0"/>
              <a:t>Detailed Doctor View with structured clinical output.</a:t>
            </a:r>
            <a:endParaRPr dirty="0"/>
          </a:p>
          <a:p>
            <a:pPr marL="457200"/>
            <a:r>
              <a:rPr lang="en-US" dirty="0"/>
              <a:t>Simplified Patient View with risk-based results.</a:t>
            </a:r>
          </a:p>
          <a:p>
            <a:pPr marL="457200"/>
            <a:r>
              <a:rPr lang="en-US" dirty="0"/>
              <a:t>Educational chatbot for awareness support.</a:t>
            </a:r>
          </a:p>
          <a:p>
            <a:pPr marL="457200"/>
            <a:r>
              <a:rPr lang="en-US" dirty="0"/>
              <a:t>Reliable and trustworthy screening assistance system.</a:t>
            </a:r>
          </a:p>
          <a:p>
            <a:pPr marL="182880" indent="-182880" algn="l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9" name="Google Shape;169;p2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" name="Google Shape;116;p16" descr="National University of Computer and Emerging Sciences - Wikipedia">
            <a:extLst>
              <a:ext uri="{FF2B5EF4-FFF2-40B4-BE49-F238E27FC236}">
                <a16:creationId xmlns:a16="http://schemas.microsoft.com/office/drawing/2014/main" id="{6FA560E3-BA2C-2886-932A-CCDFBE18C2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Team Work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Shared involvement in requirements analysis and system design.</a:t>
            </a:r>
            <a:endParaRPr lang="en-US" dirty="0">
              <a:solidFill>
                <a:srgbClr val="000000"/>
              </a:solidFill>
            </a:endParaRPr>
          </a:p>
          <a:p>
            <a:pPr marL="457200"/>
            <a:r>
              <a:rPr lang="en-US" dirty="0"/>
              <a:t>Collaborative model development and experimentation.</a:t>
            </a:r>
            <a:endParaRPr dirty="0"/>
          </a:p>
          <a:p>
            <a:pPr marL="457200"/>
            <a:r>
              <a:rPr lang="en-US" dirty="0"/>
              <a:t>Even distribution of tasks: uncertainty, calibration, explainability, interface, and chatbot.</a:t>
            </a:r>
          </a:p>
          <a:p>
            <a:pPr marL="457200"/>
            <a:r>
              <a:rPr lang="en-US" dirty="0"/>
              <a:t>Joint testing, evaluation, and documentation.</a:t>
            </a:r>
          </a:p>
          <a:p>
            <a:pPr marL="182880" indent="-182880" algn="l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6" name="Google Shape;176;p2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" name="Google Shape;116;p16" descr="National University of Computer and Emerging Sciences - Wikipedia">
            <a:extLst>
              <a:ext uri="{FF2B5EF4-FFF2-40B4-BE49-F238E27FC236}">
                <a16:creationId xmlns:a16="http://schemas.microsoft.com/office/drawing/2014/main" id="{FF298D3B-6504-FFF9-F7B6-328FACCC89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77190" indent="-285750">
              <a:spcBef>
                <a:spcPts val="0"/>
              </a:spcBef>
            </a:pPr>
            <a:r>
              <a:rPr lang="en-US" dirty="0">
                <a:solidFill>
                  <a:srgbClr val="000000"/>
                </a:solidFill>
                <a:cs typeface="Arial"/>
              </a:rPr>
              <a:t>Herrero-Tudela, María, et al. "An explainable deep-learning model to aid in the diagnosis of age related macular degeneration." European Medical and Biological Engineering Conference. Cham: Springer Nature Switzerland, 2024.</a:t>
            </a:r>
          </a:p>
          <a:p>
            <a:pPr marL="91440" indent="0">
              <a:spcBef>
                <a:spcPts val="0"/>
              </a:spcBef>
              <a:buNone/>
            </a:pPr>
            <a:endParaRPr lang="en-US" dirty="0">
              <a:solidFill>
                <a:srgbClr val="000000"/>
              </a:solidFill>
              <a:cs typeface="Arial"/>
            </a:endParaRPr>
          </a:p>
          <a:p>
            <a:pPr marL="91440" indent="0">
              <a:spcBef>
                <a:spcPts val="0"/>
              </a:spcBef>
              <a:buNone/>
            </a:pPr>
            <a:endParaRPr lang="en-US" dirty="0">
              <a:solidFill>
                <a:srgbClr val="000000"/>
              </a:solidFill>
              <a:cs typeface="Arial"/>
            </a:endParaRPr>
          </a:p>
          <a:p>
            <a:pPr marL="377190" indent="-285750">
              <a:spcBef>
                <a:spcPts val="0"/>
              </a:spcBef>
            </a:pPr>
            <a:r>
              <a:rPr lang="en-US" dirty="0">
                <a:solidFill>
                  <a:srgbClr val="000000"/>
                </a:solidFill>
                <a:cs typeface="Arial"/>
              </a:rPr>
              <a:t>Lin, </a:t>
            </a:r>
            <a:r>
              <a:rPr lang="en-US" dirty="0" err="1">
                <a:solidFill>
                  <a:srgbClr val="000000"/>
                </a:solidFill>
                <a:cs typeface="Arial"/>
              </a:rPr>
              <a:t>Xiling</a:t>
            </a:r>
            <a:r>
              <a:rPr lang="en-US" dirty="0">
                <a:solidFill>
                  <a:srgbClr val="000000"/>
                </a:solidFill>
                <a:cs typeface="Arial"/>
              </a:rPr>
              <a:t>, et al. "Global, regional, and national burden and trend of diabetes in 195 countries and territories: an analysis from 1990 to 2025." Scientific reports 10.1 (2020): 14790.</a:t>
            </a:r>
          </a:p>
          <a:p>
            <a:pPr marL="91440" indent="0">
              <a:spcBef>
                <a:spcPts val="0"/>
              </a:spcBef>
              <a:buNone/>
            </a:pPr>
            <a:endParaRPr lang="en-US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183" name="Google Shape;183;p2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" name="Google Shape;116;p16" descr="National University of Computer and Emerging Sciences - Wikipedia">
            <a:extLst>
              <a:ext uri="{FF2B5EF4-FFF2-40B4-BE49-F238E27FC236}">
                <a16:creationId xmlns:a16="http://schemas.microsoft.com/office/drawing/2014/main" id="{30EF2ACA-89FD-3ECF-B378-5BF9E363D2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509</Words>
  <Application>Microsoft Office PowerPoint</Application>
  <PresentationFormat>Widescreen</PresentationFormat>
  <Paragraphs>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Century Schoolbook</vt:lpstr>
      <vt:lpstr>Arial</vt:lpstr>
      <vt:lpstr>Calibri</vt:lpstr>
      <vt:lpstr>View</vt:lpstr>
      <vt:lpstr>View</vt:lpstr>
      <vt:lpstr>  EyeGuard-XAI: A Reliability-Aware and Explainable Multi-Disease Retinal Screening System with Dual-Interface Design and Educational Chatbot Support </vt:lpstr>
      <vt:lpstr>Introduction</vt:lpstr>
      <vt:lpstr>Motivation</vt:lpstr>
      <vt:lpstr>Problem Statement</vt:lpstr>
      <vt:lpstr>Solution</vt:lpstr>
      <vt:lpstr>Scope of the project</vt:lpstr>
      <vt:lpstr>Goals</vt:lpstr>
      <vt:lpstr>Objectives</vt:lpstr>
      <vt:lpstr>Expected Result</vt:lpstr>
      <vt:lpstr>Team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USMAN .</cp:lastModifiedBy>
  <cp:revision>89</cp:revision>
  <dcterms:modified xsi:type="dcterms:W3CDTF">2026-02-11T04:33:01Z</dcterms:modified>
</cp:coreProperties>
</file>